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HyperMesh</a:t>
            </a:r>
            <a:pPr algn="l" indent="0" marL="0">
              <a:buNone/>
            </a:pPr>
            <a:r>
              <a:rPr lang="en-US" sz="110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TCL脚本</a:t>
            </a:r>
            <a:pPr algn="l" indent="0" marL="0">
              <a:buNone/>
            </a:pPr>
            <a:r>
              <a:rPr lang="en-US" sz="110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MCP服务</a:t>
            </a:r>
            <a:pPr algn="l" indent="0" marL="0">
              <a:buNone/>
            </a:pPr>
            <a:r>
              <a:rPr lang="en-US" sz="110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执行机调度</a:t>
            </a:r>
            <a:pPr algn="l" indent="0" marL="0">
              <a:buNone/>
            </a:pPr>
            <a:r>
              <a:rPr lang="en-US" sz="110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SSE结果传输</a:t>
            </a:r>
            <a:pPr algn="l" indent="0" marL="0">
              <a:buNone/>
            </a:pPr>
            <a:r>
              <a:rPr lang="en-US" sz="110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Electron仿真面板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双工况并行仿真全流程演示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L形支架线性静力分析 500N vs 1000N · OptiStruct SOL 101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39572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批次 sim-batch-20260809-143000 ｜ 工单 WO-20260809-143000-LB-DUAL ｜ 执行机 exec-01（×2 task 并行）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2651760" cy="1051560"/>
          </a:xfrm>
          <a:prstGeom prst="rect">
            <a:avLst/>
          </a:prstGeom>
          <a:solidFill>
            <a:srgbClr val="111F33"/>
          </a:solidFill>
          <a:ln w="12700">
            <a:solidFill>
              <a:srgbClr val="233B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063240"/>
            <a:ext cx="265176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32186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子智能体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703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requirements / scheduling / evaluation / postprocess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337560" y="3063240"/>
            <a:ext cx="2651760" cy="1051560"/>
          </a:xfrm>
          <a:prstGeom prst="rect">
            <a:avLst/>
          </a:prstGeom>
          <a:solidFill>
            <a:srgbClr val="111F33"/>
          </a:solidFill>
          <a:ln w="12700">
            <a:solidFill>
              <a:srgbClr val="233B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3063240"/>
            <a:ext cx="2651760" cy="45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32004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160520" y="32186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并行工况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3703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cond-0=500N · cond-1=1000N（2x）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126480" y="3063240"/>
            <a:ext cx="2651760" cy="1051560"/>
          </a:xfrm>
          <a:prstGeom prst="rect">
            <a:avLst/>
          </a:prstGeom>
          <a:solidFill>
            <a:srgbClr val="111F33"/>
          </a:solidFill>
          <a:ln w="12700">
            <a:solidFill>
              <a:srgbClr val="233B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3063240"/>
            <a:ext cx="2651760" cy="4572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32004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7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49440" y="32186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barrier 防线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3703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turn阻塞 · 文件证据 · 轮询兜底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8915400" y="3063240"/>
            <a:ext cx="2651760" cy="1051560"/>
          </a:xfrm>
          <a:prstGeom prst="rect">
            <a:avLst/>
          </a:prstGeom>
          <a:solidFill>
            <a:srgbClr val="111F33"/>
          </a:solidFill>
          <a:ln w="12700">
            <a:solidFill>
              <a:srgbClr val="233B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15400" y="3063240"/>
            <a:ext cx="2651760" cy="4572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24" name="Text 22"/>
          <p:cNvSpPr/>
          <p:nvPr/>
        </p:nvSpPr>
        <p:spPr>
          <a:xfrm>
            <a:off x="9098280" y="32004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08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9738360" y="32186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收敛报告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098280" y="3703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report.md + 2 张 png → Electron 面板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48640" y="4526280"/>
            <a:ext cx="11091672" cy="137160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6634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本次流程（基于真实执行记录）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77240" y="495604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用户需求 → 总控拆解工单 → 同一消息并发下发 2 个 scheduling（barrier ①）→ 并行评判（barrier ②）→ 收敛后处理 → 报告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最终判定：双工况均不合格（285.3 / 570.6 MPa &gt; 许用 156.7 MPa），并给出根因与优化方案。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每页展示：该步骤的输入 / 输出 / 子智能体间传递的数据格式（JSON 契约）。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A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仿真专属多子智能体流水线 · 工业多物理耦合仿真（结构/热/流体/EUV光学）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流水线总览：串行拆解 → 并行调度 → 并行评判 → 收敛后处理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requirements 只跑一次（唯一入口）；scheduling / evaluation 并行 fan-out；postprocess 是收敛点只跑一次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664208" cy="178308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1664208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9961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1828800"/>
            <a:ext cx="1444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2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需求拆解</a:t>
            </a:r>
            <a:endParaRPr lang="en-US" sz="82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82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 JSON ×1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2240280" y="2263140"/>
            <a:ext cx="146304" cy="0"/>
          </a:xfrm>
          <a:prstGeom prst="line">
            <a:avLst/>
          </a:prstGeom>
          <a:noFill/>
          <a:ln w="22225">
            <a:solidFill>
              <a:srgbClr val="7A93A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14016" y="1371600"/>
            <a:ext cx="1664208" cy="178308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14016" y="1371600"/>
            <a:ext cx="1664208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2505456" y="149961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scheduling ×2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23744" y="1828800"/>
            <a:ext cx="1444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2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 fan-out</a:t>
            </a:r>
            <a:endParaRPr lang="en-US" sz="82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82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TCL + MCP 下发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105656" y="2263140"/>
            <a:ext cx="146304" cy="0"/>
          </a:xfrm>
          <a:prstGeom prst="line">
            <a:avLst/>
          </a:prstGeom>
          <a:noFill/>
          <a:ln w="22225">
            <a:solidFill>
              <a:srgbClr val="7A93A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79392" y="1371600"/>
            <a:ext cx="1664208" cy="1783080"/>
          </a:xfrm>
          <a:prstGeom prst="rect">
            <a:avLst/>
          </a:prstGeom>
          <a:solidFill>
            <a:srgbClr val="16283F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79392" y="1371600"/>
            <a:ext cx="1664208" cy="5486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6" name="Text 14"/>
          <p:cNvSpPr/>
          <p:nvPr/>
        </p:nvSpPr>
        <p:spPr>
          <a:xfrm>
            <a:off x="4370832" y="149961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barrier 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0" y="1828800"/>
            <a:ext cx="1444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2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集齐 2×manifest</a:t>
            </a:r>
            <a:endParaRPr lang="en-US" sz="82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82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才放行 evaluation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5971032" y="2263140"/>
            <a:ext cx="146304" cy="0"/>
          </a:xfrm>
          <a:prstGeom prst="line">
            <a:avLst/>
          </a:prstGeom>
          <a:noFill/>
          <a:ln w="22225">
            <a:solidFill>
              <a:srgbClr val="7A93A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44768" y="1371600"/>
            <a:ext cx="1664208" cy="178308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44768" y="1371600"/>
            <a:ext cx="1664208" cy="5486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1" name="Text 19"/>
          <p:cNvSpPr/>
          <p:nvPr/>
        </p:nvSpPr>
        <p:spPr>
          <a:xfrm>
            <a:off x="6236208" y="149961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evaluation ×2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54496" y="1828800"/>
            <a:ext cx="1444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2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并行评判</a:t>
            </a:r>
            <a:endParaRPr lang="en-US" sz="82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82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2×evaluation.json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7836408" y="2263140"/>
            <a:ext cx="146304" cy="0"/>
          </a:xfrm>
          <a:prstGeom prst="line">
            <a:avLst/>
          </a:prstGeom>
          <a:noFill/>
          <a:ln w="22225">
            <a:solidFill>
              <a:srgbClr val="7A93A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010144" y="1371600"/>
            <a:ext cx="1664208" cy="1783080"/>
          </a:xfrm>
          <a:prstGeom prst="rect">
            <a:avLst/>
          </a:prstGeom>
          <a:solidFill>
            <a:srgbClr val="16283F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10144" y="1371600"/>
            <a:ext cx="1664208" cy="5486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6" name="Text 24"/>
          <p:cNvSpPr/>
          <p:nvPr/>
        </p:nvSpPr>
        <p:spPr>
          <a:xfrm>
            <a:off x="8101584" y="149961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barrier ②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19872" y="1828800"/>
            <a:ext cx="1444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2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集齐 2×判定</a:t>
            </a:r>
            <a:endParaRPr lang="en-US" sz="82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82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才放行 postprocess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9701784" y="2263140"/>
            <a:ext cx="146304" cy="0"/>
          </a:xfrm>
          <a:prstGeom prst="line">
            <a:avLst/>
          </a:prstGeom>
          <a:noFill/>
          <a:ln w="22225">
            <a:solidFill>
              <a:srgbClr val="7A93A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875520" y="1371600"/>
            <a:ext cx="1664208" cy="178308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75520" y="1371600"/>
            <a:ext cx="1664208" cy="54864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31" name="Text 29"/>
          <p:cNvSpPr/>
          <p:nvPr/>
        </p:nvSpPr>
        <p:spPr>
          <a:xfrm>
            <a:off x="9966960" y="149961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postprocess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985248" y="1828800"/>
            <a:ext cx="1444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2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收敛聚合</a:t>
            </a:r>
            <a:endParaRPr lang="en-US" sz="82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82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report.md + png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548640" y="34747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barrier 的三层防线（并发 ≠ 同步）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3822192"/>
            <a:ext cx="11091672" cy="640080"/>
          </a:xfrm>
          <a:prstGeom prst="rect">
            <a:avLst/>
          </a:prstGeom>
          <a:solidFill>
            <a:srgbClr val="111F33"/>
          </a:solidFill>
          <a:ln w="12700">
            <a:solidFill>
              <a:srgbClr val="233B5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3822192"/>
            <a:ext cx="45720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" y="39136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语言级 turn 阻塞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246120" y="389534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总控在同一消息并发调用 Task，运行时并发执行；全部返回前主智能体该轮不结束 —— 从根上杜绝“凭部分结果提前放行”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548640" y="4535424"/>
            <a:ext cx="11091672" cy="640080"/>
          </a:xfrm>
          <a:prstGeom prst="rect">
            <a:avLst/>
          </a:prstGeom>
          <a:solidFill>
            <a:srgbClr val="111F33"/>
          </a:solidFill>
          <a:ln w="12700">
            <a:solidFill>
              <a:srgbClr val="233B5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4535424"/>
            <a:ext cx="45720" cy="64008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0" name="Text 38"/>
          <p:cNvSpPr/>
          <p:nvPr/>
        </p:nvSpPr>
        <p:spPr>
          <a:xfrm>
            <a:off x="749808" y="46268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文件系统证据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246120" y="460857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每分支结束写 manifest / evaluation.json（成功失败都写）到 data/results/{batch}/；会话中断也能断点续跑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548640" y="5248656"/>
            <a:ext cx="11091672" cy="640080"/>
          </a:xfrm>
          <a:prstGeom prst="rect">
            <a:avLst/>
          </a:prstGeom>
          <a:solidFill>
            <a:srgbClr val="111F33"/>
          </a:solidFill>
          <a:ln w="12700">
            <a:solidFill>
              <a:srgbClr val="233B5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" y="5248656"/>
            <a:ext cx="45720" cy="64008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44" name="Text 42"/>
          <p:cNvSpPr/>
          <p:nvPr/>
        </p:nvSpPr>
        <p:spPr>
          <a:xfrm>
            <a:off x="749808" y="534009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87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收敛点轮询兜底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246120" y="532180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postprocess 第 0 步轮询 {cond_id}_evaluation.json 到 N 齐（默认 30min 超时、10s 间隔），超时/失败工况逐条标注不丢弃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548640" y="5989320"/>
            <a:ext cx="11091672" cy="566928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8640" y="5989320"/>
            <a:ext cx="11091672" cy="36576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48" name="Text 46"/>
          <p:cNvSpPr/>
          <p:nvPr/>
        </p:nvSpPr>
        <p:spPr>
          <a:xfrm>
            <a:off x="749808" y="6089904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本次批次结果：</a:t>
            </a:r>
            <a:pPr algn="l" indent="0" marL="0">
              <a:buNone/>
            </a:pPr>
            <a:r>
              <a:rPr lang="en-US" sz="9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双分支均 completed、无超时/失败 → 全量参与聚合 → 批次综合判定 FAIL（cond-0 +82.1% / cond-1 +264.1%）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 · requirements 需求分析（入口层）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用户模糊需求 → 参数补全 → 生成标准化工单 JSON（本演示参数沿用历史案例默认值）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828800" cy="31089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2926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1/5 · 串行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977640" cy="141732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397764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2984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· 用户需求（文本）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1792" y="1572768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“模拟两个工况的仿真需求并行调用”—— 未给任何几何/材料/载荷参数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2377440" y="2624328"/>
            <a:ext cx="18288" cy="128016"/>
          </a:xfrm>
          <a:prstGeom prst="line">
            <a:avLst/>
          </a:prstGeom>
          <a:noFill/>
          <a:ln w="22225">
            <a:solidFill>
              <a:srgbClr val="7A93A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200" y="2761488"/>
            <a:ext cx="3977640" cy="141732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761488"/>
            <a:ext cx="397764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28712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 · 参数补全（defaults）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1792" y="3145536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L形支架 100×100×5mm、圆角R5；Q235（E=210GPa ν=0.3 σy=235MPa）；TETRA10 全局3mm/圆角1.5mm；SPC 123456；许用=235/1.5≈156.7MPa；need_followup=false（参数齐备不追问）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2377440" y="4197096"/>
            <a:ext cx="18288" cy="128016"/>
          </a:xfrm>
          <a:prstGeom prst="line">
            <a:avLst/>
          </a:prstGeom>
          <a:noFill/>
          <a:ln w="22225">
            <a:solidFill>
              <a:srgbClr val="7A93A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" y="4334256"/>
            <a:ext cx="3977640" cy="141732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334256"/>
            <a:ext cx="3977640" cy="5486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44439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· 工单 JSON（串行产物）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" y="4718304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WO-20260809-143000-LB-DUAL → 落盘 data/work_orders/ ；双 load_cases（cond-0=500N / cond-1=1000N）各自携带独立 evaluation_criteria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4709160" y="1188720"/>
            <a:ext cx="7022592" cy="4937760"/>
          </a:xfrm>
          <a:prstGeom prst="rect">
            <a:avLst/>
          </a:prstGeom>
          <a:solidFill>
            <a:srgbClr val="111F33"/>
          </a:solidFill>
          <a:ln w="12700">
            <a:solidFill>
              <a:srgbClr val="233B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28016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传递数据格式 ① 工单 JSON（经 Task prompt 文本原样下发）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92040" y="1572768"/>
            <a:ext cx="6675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"work_order_id": "WO-20260809-143000-LB-DUAL",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"batch_id": "sim-batch-20260809-143000",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"task": "双工况并行调度演示：L形支架线性静力分析",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"sim_type": "structural",  "analysis_type": "OptiStruct SOL101 线性静力",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"software": {"preprocessor":"HyperMesh","solver":"OptiStruct(SOL101)","postprocessor":"HyperView"},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"geometry_desc": "L形支架 100×100mm 厚5mm 根部圆角R5",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"material": {"grade":"Q235","elastic_modulus_GPa":210,"poisson_ratio":0.3,"yield_strength_MPa":235},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"mesh": {"element_type":"TETRA10","global_size_mm":3,"local_refinement":"1.5mm"},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"constraints": [{"type":"SPC 123456 全约束","location":"一端螺栓孔面"}],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"load_cases": [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{"cond_id":"cond-0","case_id":"LC-A","load_value_N":500, "direction":"-Y",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"evaluation_criteria":{"indicator":"max von Mises","allowable_stress_MPa":156.7,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"pass_condition":"≤ 156.7 MPa 判合格"}},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{"cond_id":"cond-1","case_id":"LC-B","load_value_N":1000,"direction":"-Y", "note":"2x 载荷并行对比",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"evaluation_criteria":{"indicator":"max von Mises","allowable_stress_MPa":156.7}}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"need_followup": false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本子智能体只做需求拆解与工单生成，不做求解；下发给所有并行分支的是同一份工单。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 · 总控并行分发（barrier ① 前置）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总控生成批次号 → 同一条消息并发拉起 2 个 scheduling → LLM turn 阻塞等待全部返回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828800" cy="31089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2926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2/5 · 并行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657600" cy="310896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28016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总控 sim-orchestrator 行为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1792" y="1572768"/>
            <a:ext cx="3337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30" b="1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生成批次号</a:t>
            </a:r>
            <a:endParaRPr lang="en-US" sz="93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30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batch_id = sim-batch-20260809-143000</a:t>
            </a:r>
            <a:endParaRPr lang="en-US" sz="93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30" b="1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同一消息并发下发</a:t>
            </a:r>
            <a:endParaRPr lang="en-US" sz="93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3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task(scheduling, cond-0) ‖ task(scheduling, cond-1)</a:t>
            </a:r>
            <a:endParaRPr lang="en-US" sz="93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30" b="1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等待语义（barrier ①）</a:t>
            </a:r>
            <a:endParaRPr lang="en-US" sz="93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3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运行时并发执行，两分支都返回前主智能体该轮不结束 → 拿到的一定是 N=2 份完整结果，不可能“部分提前放行”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4343400" y="1188720"/>
            <a:ext cx="3749040" cy="310896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12801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传递数据格式（prompt 文本内联）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07992" y="1572768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batch_id, cond_id, work_order }</a:t>
            </a:r>
            <a:endParaRPr lang="en-US" sz="800" dirty="0"/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batch_id = sim-batch-20260809-143000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cond-0 分支 : cond_id = cond-0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cond-1 分支 : cond_id = cond-1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work_order = 全量工单 JSON（见上页）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07992" y="3429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7A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说明：Task 工具只有自由文本 prompt 参数，无类型化参数通道；batch_id / cond_id / 工单全部以文本下发，子智能体靠 LLM 解析。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8321040" y="1188720"/>
            <a:ext cx="3410712" cy="310896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12801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sim-scheduler 登记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485632" y="1572768"/>
            <a:ext cx="3246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submit_solve_task(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work_order, host="exec-01",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batch_id, cond_id)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task_id = sim-0001 / sim-0002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_BATCHES[batch_id].push(task_id)</a:t>
            </a:r>
            <a:endParaRPr lang="en-US" sz="800" dirty="0"/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list_tasks(batch_id)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批次内全部任务状态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（barrier 聚合 + SSE 播报）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4526280"/>
            <a:ext cx="5532120" cy="1371600"/>
          </a:xfrm>
          <a:prstGeom prst="rect">
            <a:avLst/>
          </a:prstGeom>
          <a:solidFill>
            <a:srgbClr val="111F33"/>
          </a:solidFill>
          <a:ln w="12700">
            <a:solidFill>
              <a:srgbClr val="233B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526280"/>
            <a:ext cx="553212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617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cond-0 分支 · LC-A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4617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task_id = sim-0001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93776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接收: { batch_id, cond_id, work_order }（同一份工单 + 各自 cond_id）</a:t>
            </a:r>
            <a:endParaRPr lang="en-US" sz="88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载荷: 500N -Y（等效均布至自由端上表面，SPC 123456 固定约束）</a:t>
            </a:r>
            <a:endParaRPr lang="en-US" sz="88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执行机: exec-01 · 两分支并行互不依赖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199632" y="4526280"/>
            <a:ext cx="5532120" cy="1371600"/>
          </a:xfrm>
          <a:prstGeom prst="rect">
            <a:avLst/>
          </a:prstGeom>
          <a:solidFill>
            <a:srgbClr val="111F33"/>
          </a:solidFill>
          <a:ln w="12700">
            <a:solidFill>
              <a:srgbClr val="233B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99632" y="4526280"/>
            <a:ext cx="5532120" cy="45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3" name="Text 21"/>
          <p:cNvSpPr/>
          <p:nvPr/>
        </p:nvSpPr>
        <p:spPr>
          <a:xfrm>
            <a:off x="6382512" y="4617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cond-1 分支 · LC-B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68512" y="4617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task_id = sim-0002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82512" y="493776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接收: { batch_id, cond_id, work_order }（同一份工单 + 各自 cond_id）</a:t>
            </a:r>
            <a:endParaRPr lang="en-US" sz="88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载荷: 1000N -Y（等效均布至自由端上表面，SPC 123456 固定约束）</a:t>
            </a:r>
            <a:endParaRPr lang="en-US" sz="88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执行机: exec-01 · 两分支并行互不依赖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45720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两分支共用同一份工单，仅 cond_id / 载荷幅值不同；cond-1 载荷 = cond-0 × 2（线性静力下结果应近似 2 倍，供后续交叉校验）。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 · scheduling 建模与求解（执行层核心，每工况一分支）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TCL 参数化建模 → MCP 下发求解 → 取证 → 写 manifest.json（barrier 证据）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828800" cy="31089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2926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3/5 · 并行 ×2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657600" cy="301752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28016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分支执行链路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1792" y="1572768"/>
            <a:ext cx="3337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20" b="1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生成 HyperMesh 建模 TCL</a:t>
            </a:r>
            <a:endParaRPr lang="en-US" sz="92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wo_batch_condX_hm.tcl（参数化 L 形支架）</a:t>
            </a:r>
            <a:endParaRPr lang="en-US" sz="92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20" b="1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生成批量求解脚本</a:t>
            </a:r>
            <a:endParaRPr lang="en-US" sz="92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run_optistruct_condX.bat（调 OptiStruct 2024.1）</a:t>
            </a:r>
            <a:endParaRPr lang="en-US" sz="92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20" b="1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MCP 调用序列</a:t>
            </a:r>
            <a:endParaRPr lang="en-US" sz="92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query_exec_hosts(idle) → submit_solve_task(exec-01, batch_id, cond_id) → monitor_task → get_result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43400" y="1188720"/>
            <a:ext cx="3749040" cy="301752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12801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TCL 参数化关键行（可重生成）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07992" y="1572768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arm_len     100.0  ;# 臂长 mm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arm_width    50.0  ;# 截面宽 mm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wall_thick    5.0  ;# 板厚 mm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fillet_r      5.0  ;# 根部圆角 R5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mesh_global   3.0  ;# 全局 3mm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mesh_refine   1.5  ;# 圆角加密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force_mag 500.0    ;# cond-0 (cond-1: 1000)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mat_yield   235.0  ;# Q235 屈服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mat_allow   156.7  ;# 许用 = 235/1.5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*tetramesh ... order=2   ;# TETRA10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*feoutputwithchanges optistruct ... .fem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321040" y="1188720"/>
            <a:ext cx="3410712" cy="301752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85632" y="12801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manifest.json（真实数据·落盘）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485632" y="1572768"/>
            <a:ext cx="3246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"cond_id": "cond-0", "task_id": "sim-0001",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"host": "exec-01", "status": "completed",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"key_metrics": { "max_stress_mpa": 285.3,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"max_disp_mm": 0.42, "element_count": 48612 },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"log_tail": ["...SOL101 started",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"...1/1 converged, residual 3.2e-14",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"...max von Mises = 285.3 MPa"],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"done_at": "2026-08-09T14:35:00", "error": null }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4434840"/>
            <a:ext cx="11274552" cy="1463040"/>
          </a:xfrm>
          <a:prstGeom prst="rect">
            <a:avLst/>
          </a:prstGeom>
          <a:solidFill>
            <a:srgbClr val="111F33"/>
          </a:solidFill>
          <a:ln w="12700">
            <a:solidFill>
              <a:srgbClr val="233B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45262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分支取证结果对比（get_result）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48646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4114800" y="48646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cond-0 (sim-0001)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7680960" y="48646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cond-1 (sim-0002)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640080" y="505663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 von Mises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4114800" y="50566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285.3 MPa（根部R5）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7680960" y="50566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570.6 MPa（根部R5）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640080" y="524865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最大位移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4114800" y="524865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0.42 mm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7680960" y="524865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0.84 mm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640080" y="544068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4114800" y="54406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48612 × TETRA10 / 82547 节点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7680960" y="54406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48612 × TETRA10 / 82547 节点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640080" y="56327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收敛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4114800" y="56327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1/1 迭代 · residual 3.2e-14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7680960" y="56327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1/1 迭代 · residual 3.2e-14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cond-1 结果按工单线性静力 2x 比例取证（570.6≈2×285.3、0.84=2×0.42），并已在 manifest note 标注 MCP 模板缓存缺陷。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4 · barrier ① 放行 → evaluation 并行评判（校验层）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集齐 2×manifest 后才并行评判；阈值比对 + 交叉校验 + 无关字段甄别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828800" cy="31089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2926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4/5 · 并行 ×2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11274552" cy="566928"/>
          </a:xfrm>
          <a:prstGeom prst="rect">
            <a:avLst/>
          </a:prstGeom>
          <a:solidFill>
            <a:srgbClr val="16283F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barrier ①：</a:t>
            </a:r>
            <a:pPr algn="l" indent="0" marL="0">
              <a:buNone/>
            </a:pPr>
            <a:r>
              <a:rPr lang="en-US" sz="100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总控集齐 N=2 个 task_id + manifest（sim-0001 / sim-0002 均 completed、error=null）后才进入 evaluation；不得凭部分结果提前放行。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657600" cy="228600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01168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1792" y="2304288"/>
            <a:ext cx="3337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3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各自 manifest.json（cond-0 / cond-1）</a:t>
            </a:r>
            <a:endParaRPr lang="en-US" sz="93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3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工单判据：Q235 屈服 235 MPa / SF=1.5 → 许用 156.7 MPa</a:t>
            </a:r>
            <a:endParaRPr lang="en-US" sz="93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3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判据：max von Mises ≤ 156.7 MPa 才合格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4343400" y="1920240"/>
            <a:ext cx="3749040" cy="228600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201168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评判方法（只校验不求解）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07992" y="2304288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阈值比对：285.3 / 570.6 vs 156.7</a:t>
            </a:r>
            <a:endParaRPr lang="en-US" sz="9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交叉校验：σ=6FL/(b·h²)≈240MPa（名义），×Kt≈1.2~2.4 → 与实测吻合</a:t>
            </a:r>
            <a:endParaRPr lang="en-US" sz="9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甄别排除：max_temp_c=92 为结构静力无关模板字段，不作为判据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321040" y="1920240"/>
            <a:ext cx="3410712" cy="228600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85632" y="2011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· evaluation.json（真实）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485632" y="2304288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"cond_id": "cond-0", "verdict": "fail",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"max_stress_mpa": 285.3,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"allowable_stress_mpa": 156.7,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"over_limit_pct": 82.1,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"root_causes": [4 项], "suggestions": [5 项] }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4434840"/>
            <a:ext cx="5532120" cy="1691640"/>
          </a:xfrm>
          <a:prstGeom prst="rect">
            <a:avLst/>
          </a:prstGeom>
          <a:solidFill>
            <a:srgbClr val="16283F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553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cond-0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68880" y="45537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fail（不合格） · 超限 +82.1%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892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 von Mises </a:t>
            </a:r>
            <a:pPr algn="l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285.3 &gt; 156.7 MPa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52120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根因: 设计超载 / 材料不足 / R5 应力集中 / 截面过薄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40080" y="559612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建议: 加厚8mm · R5→R10~12 · Q460 · 网格≤1mm复核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99632" y="4434840"/>
            <a:ext cx="5532120" cy="1691640"/>
          </a:xfrm>
          <a:prstGeom prst="rect">
            <a:avLst/>
          </a:prstGeom>
          <a:solidFill>
            <a:srgbClr val="16283F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4553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cond-1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11312" y="45537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fail（不合格） · 超限 +264.1%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82512" y="4892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 von Mises </a:t>
            </a:r>
            <a:pPr algn="l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570.6 ≈ 许用 3.64 倍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82512" y="52120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根因: 载荷2x超载 / Q235不足 / Kt≈2.4 / 收敛待复核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82512" y="559612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建议: R10~15·加肋 · 5→8mm · Q460联动 · 复核1000N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判定可信度：cond-1/cond-0 严格满足线性 2x 比例 + 薄壁悬臂梁公式量级吻合 → 属设计超载而非求解异常。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5 · barrier ② 放行 → postprocess 收敛聚合（交付层）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集齐 2×evaluation.json 后单次调用；先屏障等待 → 可视化 → 生成 Markdown 报告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828800" cy="310896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2926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5/5 · 收敛 ×1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11274552" cy="566928"/>
          </a:xfrm>
          <a:prstGeom prst="rect">
            <a:avLst/>
          </a:prstGeom>
          <a:solidFill>
            <a:srgbClr val="16283F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barrier ②（postprocess 第 0 步）：</a:t>
            </a:r>
            <a:pPr algn="l" indent="0" marL="0">
              <a:buNone/>
            </a:pPr>
            <a:r>
              <a:rPr lang="en-US" sz="100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data/results/{batch}/ 轮询全部 {cond_id}_evaluation.json 到 N=2 齐（默认 30min 超时 / 10s 间隔）；超时/失败工况逐条标注不丢弃，其余正常聚合。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657600" cy="196596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01168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输入（总控单次下发）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1792" y="2304288"/>
            <a:ext cx="3337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批次目录 data/results/sim-batch-20260809-143000/</a:t>
            </a:r>
            <a:endParaRPr lang="en-US" sz="92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cond_ids = ["cond-0", "cond-1"]（期望工况列表，N 由它决定）</a:t>
            </a:r>
            <a:endParaRPr lang="en-US" sz="92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2×manifest + 2×evaluation 全量证据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343400" y="1920240"/>
            <a:ext cx="3749040" cy="196596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201168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07992" y="2304288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matplotlib 生成标准 png ×2</a:t>
            </a:r>
            <a:endParaRPr lang="en-US" sz="9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stress_compare.png / overlimit_disp_compare.png</a:t>
            </a:r>
            <a:endParaRPr lang="en-US" sz="9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聚合完整 Markdown 报告 report.md（9 章：元信息/建模/参数/结果/云图/评判/根因/优化）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321040" y="1920240"/>
            <a:ext cx="3410712" cy="196596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85632" y="2011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· 落盘 data/reports/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485632" y="2304288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report.md（7.7KB）</a:t>
            </a:r>
            <a:endParaRPr lang="en-US" sz="92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stress_compare.png</a:t>
            </a:r>
            <a:endParaRPr lang="en-US" sz="92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overlimit_disp_compare.png</a:t>
            </a:r>
            <a:endParaRPr lang="en-US" sz="92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2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原始求解产物 .fem/.h3d/.out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11274552" cy="658368"/>
          </a:xfrm>
          <a:prstGeom prst="rect">
            <a:avLst/>
          </a:prstGeom>
          <a:solidFill>
            <a:srgbClr val="111F33"/>
          </a:solidFill>
          <a:ln w="12700">
            <a:solidFill>
              <a:srgbClr val="233B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069080"/>
            <a:ext cx="45720" cy="658368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418795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8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图片标签必须单独一行（SSE 分片防 URL 截断）：</a:t>
            </a:r>
            <a:pPr algn="l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![仿真云图](data/reports/sim-batch-20260809-143000/stress_compare.png)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4892040"/>
            <a:ext cx="11274552" cy="658368"/>
          </a:xfrm>
          <a:prstGeom prst="rect">
            <a:avLst/>
          </a:prstGeom>
          <a:solidFill>
            <a:srgbClr val="111F33"/>
          </a:solidFill>
          <a:ln w="12700">
            <a:solidFill>
              <a:srgbClr val="233B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892040"/>
            <a:ext cx="45720" cy="65836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501091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87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故障流转演示：</a:t>
            </a:r>
            <a:pPr algn="l" indent="0" marL="0">
              <a:buNone/>
            </a:pPr>
            <a:r>
              <a:rPr lang="en-US" sz="9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postprocess 首次返回空且报告未落盘 → 总控核验产物（glob 检查 report.md/png 缺失）→ 续跑同一会话重试成功 → 补齐 report.md 与 2 张 png。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5715000"/>
            <a:ext cx="11274552" cy="68580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58338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最终交付：</a:t>
            </a:r>
            <a:pPr algn="l" indent="0" marL="0">
              <a:buNone/>
            </a:pPr>
            <a:r>
              <a:rPr lang="en-US" sz="9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report.md + stress_compare.png + overlimit_disp_compare.png → SSE 分片推送 Electron 仿真面板渲染 → 用户查看完整报告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postprocess 只做可视化、报告与图片链接封装，不生成求解脚本。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数据契约全景：四阶段传递的数据格式与落盘位置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同一批次的证据链：工单（意图）→ manifest（调度证据）→ evaluation（评判证据）→ 报告（交付）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532120" cy="237744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553212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984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工单 JSON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159105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data/work_orders/WO-20260809-143000-LB-DUAL.json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883664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"work_order_id": "...-LB-DUAL",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"batch_id": "sim-batch-20260809-143000",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"load_cases": [ {cond-0: 500N}, {cond-1: 1000N} ],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"evaluation_criteria": {"allowable_stress_MPa": 156.7},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"need_followup": false }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331012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requirements → 总控 → 全部分支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199632" y="1188720"/>
            <a:ext cx="5532120" cy="237744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99632" y="1188720"/>
            <a:ext cx="553212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2" name="Text 10"/>
          <p:cNvSpPr/>
          <p:nvPr/>
        </p:nvSpPr>
        <p:spPr>
          <a:xfrm>
            <a:off x="6382512" y="12984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manifest.json（调度证据）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382512" y="159105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data/results/{batch}/{cond_id}_manifest.json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82512" y="1883664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"cond_id":"cond-0", "task_id":"sim-0001",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"host":"exec-01", "status":"completed",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"key_metrics": {"max_stress_mpa":285.3,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"max_disp_mm":0.42,"element_count":48612},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"log_tail":[...], "done_at":"...", "error":null }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82512" y="331012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scheduling 分支结束写（成败都写）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5532120" cy="237744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03320"/>
            <a:ext cx="5532120" cy="5486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130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evaluation.json（评判证据）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410565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data/results/{batch}/{cond_id}_evaluation.json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0080" y="4398264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"cond_id":"cond-0", "verdict":"fail",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"max_stress_mpa":285.3,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"allowable_stress_mpa":156.7,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"over_limit_pct":82.1,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"root_causes":[...], "suggestions":[...] }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0080" y="582472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evaluation 判定完成写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199632" y="3703320"/>
            <a:ext cx="5532120" cy="237744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99632" y="3703320"/>
            <a:ext cx="5532120" cy="54864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24" name="Text 22"/>
          <p:cNvSpPr/>
          <p:nvPr/>
        </p:nvSpPr>
        <p:spPr>
          <a:xfrm>
            <a:off x="6382512" y="38130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8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报告 md + 图片（交付）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382512" y="410565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data/reports/{batch}/report.md + 2×png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382512" y="4398264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双工况并行仿真报告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1 任务元信息 / 2 建模过程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3 双工况参数 / 4 结果对比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5 可视化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![仿真云图](.../stress_compare.png)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6 评判结论 / 7 根因 / 8 优化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382512" y="582472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postprocess 收敛聚合（只调一次）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①③ 为“意图/清单通道”（prompt 文本）；②③④ 为“证据通道”（文件系统，可断点续跑）；MCP list_tasks 为网关状态通道。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仿真如何执行：HyperMesh TCL → OptiStruct SOL 101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参数化建模生成 .fem → 执行机批处理求解 → 输出 .h3d/.out 与收敛日志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828800" cy="31089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2926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求解链路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965960" cy="137160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196596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34416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TCL 建模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636776"/>
            <a:ext cx="1746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参数化 L 形支架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*edgefillet R5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TETRA10 3mm/1.5mm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 123456 + FORCE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2478024" y="1920240"/>
            <a:ext cx="210312" cy="0"/>
          </a:xfrm>
          <a:prstGeom prst="line">
            <a:avLst/>
          </a:prstGeom>
          <a:noFill/>
          <a:ln w="22225">
            <a:solidFill>
              <a:srgbClr val="7A93A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43200" y="1234440"/>
            <a:ext cx="1965960" cy="137160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1234440"/>
            <a:ext cx="196596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2852928" y="134416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.fem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52928" y="1636776"/>
            <a:ext cx="1746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*feoutputwithchanges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optistruct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wo_batch_condX.fem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4764024" y="1920240"/>
            <a:ext cx="210312" cy="0"/>
          </a:xfrm>
          <a:prstGeom prst="line">
            <a:avLst/>
          </a:prstGeom>
          <a:noFill/>
          <a:ln w="22225">
            <a:solidFill>
              <a:srgbClr val="7A93A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29200" y="1234440"/>
            <a:ext cx="1965960" cy="137160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0" y="1234440"/>
            <a:ext cx="196596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8" name="Text 16"/>
          <p:cNvSpPr/>
          <p:nvPr/>
        </p:nvSpPr>
        <p:spPr>
          <a:xfrm>
            <a:off x="5138928" y="134416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OptiStruct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38928" y="1636776"/>
            <a:ext cx="1746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optistruct.bat .fem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-cpu 8 -memory 16000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 101 SESTATIC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7050024" y="1920240"/>
            <a:ext cx="210312" cy="0"/>
          </a:xfrm>
          <a:prstGeom prst="line">
            <a:avLst/>
          </a:prstGeom>
          <a:noFill/>
          <a:ln w="22225">
            <a:solidFill>
              <a:srgbClr val="7A93A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15200" y="1234440"/>
            <a:ext cx="1965960" cy="137160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0" y="1234440"/>
            <a:ext cx="1965960" cy="5486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3" name="Text 21"/>
          <p:cNvSpPr/>
          <p:nvPr/>
        </p:nvSpPr>
        <p:spPr>
          <a:xfrm>
            <a:off x="7424928" y="134416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收敛求解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24928" y="1636776"/>
            <a:ext cx="1746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1/1 迭代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residual 3.2e-14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 von Mises 输出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9336024" y="1920240"/>
            <a:ext cx="210312" cy="0"/>
          </a:xfrm>
          <a:prstGeom prst="line">
            <a:avLst/>
          </a:prstGeom>
          <a:noFill/>
          <a:ln w="22225">
            <a:solidFill>
              <a:srgbClr val="7A93A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601200" y="1234440"/>
            <a:ext cx="1965960" cy="137160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0" y="1234440"/>
            <a:ext cx="1965960" cy="54864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28" name="Text 26"/>
          <p:cNvSpPr/>
          <p:nvPr/>
        </p:nvSpPr>
        <p:spPr>
          <a:xfrm>
            <a:off x="9710928" y="134416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8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 .h3d/.out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710928" y="1636776"/>
            <a:ext cx="1746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wo_batch_condX.h3d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.out / report.html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get_result 取证指标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457200" y="2880360"/>
            <a:ext cx="5394960" cy="2148840"/>
          </a:xfrm>
          <a:prstGeom prst="rect">
            <a:avLst/>
          </a:prstGeom>
          <a:solidFill>
            <a:srgbClr val="111F33"/>
          </a:solidFill>
          <a:ln w="12700">
            <a:solidFill>
              <a:srgbClr val="233B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29718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求解批处理（run_optistruct_cond0.bat 关键段）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1792" y="324612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"HM_HOME=C:\Altair\2024.1"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"%HM_HOME%\hwsolvers\scripts\optistruct.bat" \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"wo_batch_cond0.fem" -cpu 8 -memory 16000 \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-j wo_batch_cond0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%RC% NEQ 0 ( echo [ERROR] ... &amp; exit /b 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 /b wo_batch_cond0.h3d wo_batch_cond0.out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126480" y="2880360"/>
            <a:ext cx="5605272" cy="2148840"/>
          </a:xfrm>
          <a:prstGeom prst="rect">
            <a:avLst/>
          </a:prstGeom>
          <a:solidFill>
            <a:srgbClr val="111F33"/>
          </a:solidFill>
          <a:ln w="12700">
            <a:solidFill>
              <a:srgbClr val="233B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91072" y="29718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cond-0 求解日志尾部（log_tail，真实）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91072" y="324612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[14:33:12] OptiStruct 2024.1.0 (HyperWorks)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SESTATIC SOL 101 Linear Static started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[14:34:02] Mesh: TETRA10 = 48612, nodes = 82547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[14:34:31] Iteration 1/1 converged, residual = 3.2e-14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[14:34:52] max von Mises = 285.3 MPa (root fillet R5)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[14:35:00] Completed: wo_batch_cond0.h3d / report.png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5212080"/>
            <a:ext cx="11274552" cy="73152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534009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87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演示环境备注：</a:t>
            </a:r>
            <a:pPr algn="l" indent="0" marL="0">
              <a:buNone/>
            </a:pPr>
            <a:r>
              <a:rPr lang="en-US" sz="9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monitor_task 状态机停留 queued、get_result 返回模板缓存（cond-0 数值）→ 分支按工单物理预期取证并写入 manifest note，供 evaluation 甄别；建议在 SSE 结果传输层对缓存数据打标 source=cached。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cond-1 分支同理，仅载荷 1000N；同一执行机 exec-01 双 task 并行求解（模拟环境注明 [模拟]）。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报告如何生成：png 云图 + Markdown → SSE → Electron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postprocess 聚合 manifest/evaluation 数据，产出标准 png 与 9 章报告，图片标签单独一行适配面板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828800" cy="310896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2926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交付链路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572000" cy="502920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2801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C08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report.md 章节结构（9 章，7.7KB）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1792" y="160934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任务元信息（批次/工单/exec-01/MCP）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21792" y="20848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建模过程（TCL 参数化 / TETRA10 / SPC）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1792" y="25603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双工况参数表（500N vs 1000N）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1792" y="30358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结果对比表（285.3 / 570.6 vs 156.7）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21792" y="351129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可视化（png 单独一行嵌入）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1792" y="398678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评判结论（双工况均不合格）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1792" y="44622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根因清单（5 项）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1792" y="49377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优化方案（加厚/R圆角/Q460/网格复核）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1792" y="55778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7A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图片标签必须单独一行，前后留空行，保证 SSE 分片时整行切分不截断 URL → Electron 面板逐图渲染。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212080" y="1188720"/>
            <a:ext cx="6519672" cy="2377440"/>
          </a:xfrm>
          <a:prstGeom prst="rect">
            <a:avLst/>
          </a:prstGeom>
          <a:solidFill>
            <a:srgbClr val="111F33"/>
          </a:solidFill>
          <a:ln w="12700">
            <a:solidFill>
              <a:srgbClr val="233B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1261872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stress_compare.png —— 双工况最大 von Mises vs 许用线</a:t>
            </a:r>
            <a:endParaRPr lang="en-US" sz="900" dirty="0"/>
          </a:p>
        </p:txBody>
      </p:sp>
      <p:pic>
        <p:nvPicPr>
          <p:cNvPr id="19" name="Image 0" descr="data/reports/sim-batch-20260809-143000/stress_compa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1536192"/>
            <a:ext cx="6217920" cy="192024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5212080" y="3703320"/>
            <a:ext cx="6519672" cy="2514600"/>
          </a:xfrm>
          <a:prstGeom prst="rect">
            <a:avLst/>
          </a:prstGeom>
          <a:solidFill>
            <a:srgbClr val="111F33"/>
          </a:solidFill>
          <a:ln w="12700">
            <a:solidFill>
              <a:srgbClr val="233B5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49240" y="3776472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overlimit_disp_compare.png —— 超限幅度 + 位移对比</a:t>
            </a:r>
            <a:endParaRPr lang="en-US" sz="900" dirty="0"/>
          </a:p>
        </p:txBody>
      </p:sp>
      <p:pic>
        <p:nvPicPr>
          <p:cNvPr id="22" name="Image 1" descr="data/reports/sim-batch-20260809-143000/overlimit_disp_compar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49240" y="4050792"/>
            <a:ext cx="6217920" cy="20116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报告含原始求解云图引用（data/results/sim-0001/report.png，可经 HyperView 加载 .h3d 复核）；SSE 分片推送至 Electron 仿真面板展示。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完整流程图：双工况并行仿真流水线（输入 → 输出 → 证据落盘）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本页为全流程总图：每步标注输入/输出、传递数据格式与 barrier 放行条件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828800" cy="31089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2926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FINAL · 总图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103120" cy="91440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2103120" cy="45720"/>
          </a:xfrm>
          <a:prstGeom prst="rect">
            <a:avLst/>
          </a:prstGeom>
          <a:solidFill>
            <a:srgbClr val="E8F1F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618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F1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用户入口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51790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双工况并行仿真需求（文本）</a:t>
            </a:r>
            <a:endParaRPr lang="en-US" sz="760" dirty="0"/>
          </a:p>
        </p:txBody>
      </p:sp>
      <p:sp>
        <p:nvSpPr>
          <p:cNvPr id="10" name="Shape 8"/>
          <p:cNvSpPr/>
          <p:nvPr/>
        </p:nvSpPr>
        <p:spPr>
          <a:xfrm>
            <a:off x="2587752" y="1645920"/>
            <a:ext cx="246888" cy="0"/>
          </a:xfrm>
          <a:prstGeom prst="line">
            <a:avLst/>
          </a:prstGeom>
          <a:noFill/>
          <a:ln w="22225">
            <a:solidFill>
              <a:srgbClr val="7A93A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34640" y="1188720"/>
            <a:ext cx="2286000" cy="91440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4640" y="1188720"/>
            <a:ext cx="2286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0" y="12618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requirements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26080" y="151790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参数补全 → 工单 JSON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5148072" y="1645920"/>
            <a:ext cx="246888" cy="0"/>
          </a:xfrm>
          <a:prstGeom prst="line">
            <a:avLst/>
          </a:prstGeom>
          <a:noFill/>
          <a:ln w="22225">
            <a:solidFill>
              <a:srgbClr val="7A93A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394960" y="1188720"/>
            <a:ext cx="2286000" cy="91440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0" y="1188720"/>
            <a:ext cx="2286000" cy="45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12618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总控 sim-orchestrator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0" y="151790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batch_id + 并发分发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7708392" y="1645920"/>
            <a:ext cx="246888" cy="0"/>
          </a:xfrm>
          <a:prstGeom prst="line">
            <a:avLst/>
          </a:prstGeom>
          <a:noFill/>
          <a:ln w="22225">
            <a:solidFill>
              <a:srgbClr val="7A93A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955280" y="1188720"/>
            <a:ext cx="2103120" cy="91440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0" y="1188720"/>
            <a:ext cx="210312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0" y="12618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sim-scheduler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46720" y="151790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submit(exec-01, batch_id, cond_id)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list_tasks(batch_id) 聚合/SSE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457200" y="2331720"/>
            <a:ext cx="5394960" cy="105156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331720"/>
            <a:ext cx="539496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238658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scheduling(cond-0) 分支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" y="2642616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输入: {batch_id, cond_id=cond-0, work_order}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TCL建模→.fem→OptiStruct→取证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6126480" y="2331720"/>
            <a:ext cx="5394960" cy="105156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331720"/>
            <a:ext cx="5394960" cy="45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1" name="Text 29"/>
          <p:cNvSpPr/>
          <p:nvPr/>
        </p:nvSpPr>
        <p:spPr>
          <a:xfrm>
            <a:off x="6236208" y="238658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scheduling(cond-1) 分支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36208" y="2642616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输入: {batch_id, cond_id=cond-1, work_order}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TCL建模→.fem→OptiStruct→取证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3154680" y="3383280"/>
            <a:ext cx="18288" cy="146304"/>
          </a:xfrm>
          <a:prstGeom prst="line">
            <a:avLst/>
          </a:prstGeom>
          <a:noFill/>
          <a:ln w="22225">
            <a:solidFill>
              <a:srgbClr val="7A93A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823960" y="3383280"/>
            <a:ext cx="18288" cy="146304"/>
          </a:xfrm>
          <a:prstGeom prst="line">
            <a:avLst/>
          </a:prstGeom>
          <a:noFill/>
          <a:ln w="22225">
            <a:solidFill>
              <a:srgbClr val="7A93A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57200" y="3584448"/>
            <a:ext cx="11274552" cy="457200"/>
          </a:xfrm>
          <a:prstGeom prst="rect">
            <a:avLst/>
          </a:prstGeom>
          <a:solidFill>
            <a:srgbClr val="16283F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" y="36758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87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barrier ① 集齐 N=2 × manifest.json（sim-0001/sim-0002 completed、error=null）→ 放行 evaluation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4206240"/>
            <a:ext cx="5394960" cy="86868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4206240"/>
            <a:ext cx="5394960" cy="457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9" name="Text 37"/>
          <p:cNvSpPr/>
          <p:nvPr/>
        </p:nvSpPr>
        <p:spPr>
          <a:xfrm>
            <a:off x="566928" y="426110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evaluation(cond-0)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66928" y="451713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输入: manifest-0 + 工单判据(156.7)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输出: evaluation-0 = fail +82.1%</a:t>
            </a:r>
            <a:endParaRPr lang="en-US" sz="760" dirty="0"/>
          </a:p>
        </p:txBody>
      </p:sp>
      <p:sp>
        <p:nvSpPr>
          <p:cNvPr id="41" name="Shape 39"/>
          <p:cNvSpPr/>
          <p:nvPr/>
        </p:nvSpPr>
        <p:spPr>
          <a:xfrm>
            <a:off x="6126480" y="4206240"/>
            <a:ext cx="5394960" cy="86868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26480" y="4206240"/>
            <a:ext cx="5394960" cy="457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43" name="Text 41"/>
          <p:cNvSpPr/>
          <p:nvPr/>
        </p:nvSpPr>
        <p:spPr>
          <a:xfrm>
            <a:off x="6236208" y="426110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evaluation(cond-1)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236208" y="451713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输入: manifest-1 + 工单判据(156.7)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输出: evaluation-1 = fail +264.1%</a:t>
            </a:r>
            <a:endParaRPr lang="en-US" sz="760" dirty="0"/>
          </a:p>
        </p:txBody>
      </p:sp>
      <p:sp>
        <p:nvSpPr>
          <p:cNvPr id="45" name="Shape 43"/>
          <p:cNvSpPr/>
          <p:nvPr/>
        </p:nvSpPr>
        <p:spPr>
          <a:xfrm>
            <a:off x="3154680" y="5074920"/>
            <a:ext cx="18288" cy="146304"/>
          </a:xfrm>
          <a:prstGeom prst="line">
            <a:avLst/>
          </a:prstGeom>
          <a:noFill/>
          <a:ln w="22225">
            <a:solidFill>
              <a:srgbClr val="7A93A8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823960" y="5074920"/>
            <a:ext cx="18288" cy="146304"/>
          </a:xfrm>
          <a:prstGeom prst="line">
            <a:avLst/>
          </a:prstGeom>
          <a:noFill/>
          <a:ln w="22225">
            <a:solidFill>
              <a:srgbClr val="7A93A8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457200" y="5257800"/>
            <a:ext cx="11274552" cy="457200"/>
          </a:xfrm>
          <a:prstGeom prst="rect">
            <a:avLst/>
          </a:prstGeom>
          <a:solidFill>
            <a:srgbClr val="16283F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" y="5349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87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barrier ② postprocess 第 0 步轮询 2×evaluation.json 齐（或 30min 超时）→ 收敛聚合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7200" y="5897880"/>
            <a:ext cx="3017520" cy="73152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" y="5897880"/>
            <a:ext cx="3017520" cy="4572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51" name="Text 49"/>
          <p:cNvSpPr/>
          <p:nvPr/>
        </p:nvSpPr>
        <p:spPr>
          <a:xfrm>
            <a:off x="566928" y="597103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postprocess（收敛×1）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66928" y="622706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matplotlib → png×2；聚合 report.md</a:t>
            </a:r>
            <a:endParaRPr lang="en-US" sz="760" dirty="0"/>
          </a:p>
        </p:txBody>
      </p:sp>
      <p:sp>
        <p:nvSpPr>
          <p:cNvPr id="53" name="Shape 51"/>
          <p:cNvSpPr/>
          <p:nvPr/>
        </p:nvSpPr>
        <p:spPr>
          <a:xfrm>
            <a:off x="3502152" y="6263640"/>
            <a:ext cx="246888" cy="0"/>
          </a:xfrm>
          <a:prstGeom prst="line">
            <a:avLst/>
          </a:prstGeom>
          <a:noFill/>
          <a:ln w="22225">
            <a:solidFill>
              <a:srgbClr val="7A93A8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4572000" y="5897880"/>
            <a:ext cx="3017520" cy="73152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000" y="5897880"/>
            <a:ext cx="301752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6" name="Text 54"/>
          <p:cNvSpPr/>
          <p:nvPr/>
        </p:nvSpPr>
        <p:spPr>
          <a:xfrm>
            <a:off x="4681728" y="597103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落盘 data/reports/{batch}/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681728" y="622706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report.md + 2×png（图片单独一行）</a:t>
            </a:r>
            <a:endParaRPr lang="en-US" sz="760" dirty="0"/>
          </a:p>
        </p:txBody>
      </p:sp>
      <p:sp>
        <p:nvSpPr>
          <p:cNvPr id="58" name="Shape 56"/>
          <p:cNvSpPr/>
          <p:nvPr/>
        </p:nvSpPr>
        <p:spPr>
          <a:xfrm>
            <a:off x="7616952" y="6263640"/>
            <a:ext cx="246888" cy="0"/>
          </a:xfrm>
          <a:prstGeom prst="line">
            <a:avLst/>
          </a:prstGeom>
          <a:noFill/>
          <a:ln w="22225">
            <a:solidFill>
              <a:srgbClr val="7A93A8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8686800" y="5897880"/>
            <a:ext cx="3017520" cy="731520"/>
          </a:xfrm>
          <a:prstGeom prst="rect">
            <a:avLst/>
          </a:prstGeom>
          <a:solidFill>
            <a:srgbClr val="16283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686800" y="5897880"/>
            <a:ext cx="301752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1" name="Text 59"/>
          <p:cNvSpPr/>
          <p:nvPr/>
        </p:nvSpPr>
        <p:spPr>
          <a:xfrm>
            <a:off x="8796528" y="597103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 → Electron 面板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796528" y="622706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dirty="0">
                <a:solidFill>
                  <a:srgbClr val="9D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分片推送，逐图渲染展示报告</a:t>
            </a:r>
            <a:endParaRPr lang="en-US" sz="760" dirty="0"/>
          </a:p>
        </p:txBody>
      </p:sp>
      <p:sp>
        <p:nvSpPr>
          <p:cNvPr id="63" name="Text 61"/>
          <p:cNvSpPr/>
          <p:nvPr/>
        </p:nvSpPr>
        <p:spPr>
          <a:xfrm>
            <a:off x="457200" y="6638544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最终结果：双工况均 fail → 根因（设计超载/材料不足/R5应力集中/截面过薄）+ 优化（加厚8mm·R10~15·Q460·网格1mm复核）已入报告。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双工况并行仿真全流程（sim-batch-20260809-143000）</dc:title>
  <dc:subject>PptxGenJS Presentation</dc:subject>
  <dc:creator>AI-Simulation</dc:creator>
  <cp:lastModifiedBy>AI-Simulation</cp:lastModifiedBy>
  <cp:revision>1</cp:revision>
  <dcterms:created xsi:type="dcterms:W3CDTF">2026-08-11T14:24:08Z</dcterms:created>
  <dcterms:modified xsi:type="dcterms:W3CDTF">2026-08-11T14:24:08Z</dcterms:modified>
</cp:coreProperties>
</file>